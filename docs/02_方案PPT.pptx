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notesSlide" Target="notesSlides/notesSlide1.xml"/><Relationship Id="rId22" Type="http://schemas.openxmlformats.org/officeDocument/2006/relationships/notesSlide" Target="notesSlides/notesSlide2.xml"/><Relationship Id="rId23" Type="http://schemas.openxmlformats.org/officeDocument/2006/relationships/notesSlide" Target="notesSlides/notesSlide3.xml"/><Relationship Id="rId24" Type="http://schemas.openxmlformats.org/officeDocument/2006/relationships/notesSlide" Target="notesSlides/notesSlide4.xml"/><Relationship Id="rId25" Type="http://schemas.openxmlformats.org/officeDocument/2006/relationships/notesSlide" Target="notesSlides/notesSlide5.xml"/><Relationship Id="rId26" Type="http://schemas.openxmlformats.org/officeDocument/2006/relationships/notesSlide" Target="notesSlides/notesSlide6.xml"/><Relationship Id="rId27" Type="http://schemas.openxmlformats.org/officeDocument/2006/relationships/notesSlide" Target="notesSlides/notesSlide7.xml"/><Relationship Id="rId28" Type="http://schemas.openxmlformats.org/officeDocument/2006/relationships/notesSlide" Target="notesSlides/notesSlide8.xml"/><Relationship Id="rId29" Type="http://schemas.openxmlformats.org/officeDocument/2006/relationships/notesSlide" Target="notesSlides/notesSlide9.xml"/><Relationship Id="rId30" Type="http://schemas.openxmlformats.org/officeDocument/2006/relationships/notesSlide" Target="notesSlides/notesSlide10.xml"/><Relationship Id="rId31" Type="http://schemas.openxmlformats.org/officeDocument/2006/relationships/notesSlide" Target="notesSlides/notesSlide11.xml"/><Relationship Id="rId32" Type="http://schemas.openxmlformats.org/officeDocument/2006/relationships/notesSlide" Target="notesSlides/notes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老师好，我们带来的作品是“私域客服自治工作台”，代号AgentDesk。这是一个基于多Agent协同的私域客服自治基础设施，旨在解决当前私域服务自动化中的核心痛点，实现真正的智能客服自主闭环。我们的方案聚焦于工程实现和生产级约束，致力于为企业提供一套可靠、可扩展的Agent Infra。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前，私域客服的自动化面临着四大困境。首先，渠道分散导致体验割裂；其次，传统自动回复像个黑盒，不可靠且容易出错；第三，高风险操作缺乏管控，存在资损风险；最后，单Bot架构能力有限，无法应对复杂的业务流程。这些痛点共同指向一个结论：我们需要一套全新的、面向协同的Agent基础设施，来打破当前的自动化困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方案主要为三类用户创造价值：对于私域运营团队，我们实现提效降错；对于客服团队，我们提供可审计和可沉淀的能力；对于中小企业，我们提供低成本、高灵活性的启动方案。更重要的是，我们的核心架构和Skill体系具有高度的可迁移性，不仅适用于电商，还能快速复制到教育、本地生活等多个领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创新在于这套AgentTeams分层协同架构。它借鉴了现实世界的组织管理模式，构建了一套“值班长→团队领导→一线工人”的层级化工作流。管理层负责拆解和决策，编排层负责调度和状态管理，执行层负责具体操作，而技能层则提供了可复用的能力积木。这种范式转变，让我们能够应对复杂的业务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我们的架构中，每个Agent都有明确的身份和职责。DutyManager是项目经理，负责拆解和审批；SessionTL是团队主管，负责调度和状态管理；而ChannelIngress、TriageGuard和ActVerify则是一线专家，分别负责消息接入、意图识别和执行核验。这种清晰的分工保证了团队的高效协同和系统的稳定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端到端的任务流转流程。从用户消息入站开始，经过分诊、规划执行，到最关键的结果核验，最后进行总结。整个流程由一个状态机驱动，确保每个任务都能被完整地追踪和管理。特别是核验环节，它是我们保证服务质量和可靠性的核心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kill是我们能力体系的核心。我们构建了5个核心Skill，包括负责多渠道归一的SessionNormalize，负责意图分级的IntentTriage，负责方案生成的ReplyPlan，以及负责发送和核验的ChannelSend与OutcomeVerify。特别是OutcomeVerify，它是我们区别于传统自动回复的关键，确保了每一次服务都能真正闭环成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保证系统的开放性和未来的可扩展性，我们定义了一套与MCP等价的标准化工具契约。这套契约包含了发送消息、查询会话和获取历史记录三个核心接口。这意味着，未来无论底层渠道如何变化，甚至迁移到标准的MCP平台，我们上层的Agent编排逻辑和Skill都无需改动，只需替换协议适配器即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设计了三个典型的演示剧本来说明系统的工作方式。剧本A展示了低风险场景下的全自动闭环；剧本B展示了高风险操作如何通过人工审批来保障安全；剧本C则展示了系统在核验失败时的容错机制，它会自动升级人工，避免错误发生。这三个剧本充分验证了我们系统的实用性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系统能在生产环境中稳定运行，我们构建了四大保障机制。首先是Profile级的账号隔离，从根本上防止串号。其次是OutcomeVerify二次校验，确保服务质量。第三是ApprovalToken审批闸门，为高风险操作保驾护航。最后是全链路的执行证据，提供完整的审计线索。这些机制共同构成了我们生产级的安全保障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诚实地展示当前的项目进展。目前，我们已经完成了抖音渠道的接入和核心的核验功能，并在GitHub上开放了所有设计文档。企微适配和审批流产品化正在进行中。对于复赛，我们的目标是交付一个可独立运行的AgentTeams代码包，并完成端到端的Demo演示。我们脚踏实地，行稳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最后，总结一下我们的作品价值：我们提出了一套多Agent协同的范式创新，方案深度融合了生产级约束，并通过标准化设计拥抱开放生态。我们计划开源Skill Schema、Identity模板和工具契约，希望能为Agent Infra生态贡献一份力量。我们的目标是，让每个企业都能拥有自己的智能客服团队。谢谢大家！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jpe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483100" y="2273300"/>
            <a:ext cx="6985000" cy="596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A2A4E">
                    <a:alpha val="3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GOAI 2026 · 新智基座赛道 · 智能客服自主闭环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83100" y="2616200"/>
            <a:ext cx="736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5200">
                <a:solidFill>
                  <a:srgbClr val="27193A"/>
                </a:solidFill>
                <a:latin typeface="Noto Sans SC"/>
                <a:ea typeface="Noto Sans SC"/>
                <a:cs typeface="Noto Sans SC"/>
                <a:sym typeface="Noto Sans SC"/>
              </a:rPr>
              <a:t>私域客服自治工作台（AgentDesk）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483100" y="4267200"/>
            <a:ext cx="698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A2A4E">
                    <a:alpha val="3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GitHub: https://github.com/icebreak119/AgentDesk</a:t>
            </a:r>
            <a:endParaRPr lang="en-US" sz="1100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</a:rPr>
              <a:t>基于 AgentTeams 的多 Agent 私域客服自治基础设施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1500" y="1346200"/>
            <a:ext cx="41529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传统自动化模式在私域场景中遭遇多重瓶颈，从体验割裂到风险失控，暴露了现有体系的局限性，这正是 Agent Infra 架构诞生的契机。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" y="685800"/>
            <a:ext cx="6197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私域服务的“自动化困境”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781800" y="8001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渠道分散与体验割裂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781800" y="12446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流量散落在抖音、企微等多平台，会话上下文相互孤立，无法形成统一的用户全景视图，导致服务体验碎片化且无法持续优化。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146" flipH="false" flipV="false">
            <a:off x="6070608" y="2012950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781800" y="22606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自动化的“黑盒”与不可靠性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81800" y="27051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传统自动回复缺乏结果核验机制，“发送成功”不等于“服务闭环”，短文本交互易出现串号、错发等问题，服务质量不可控。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146" flipH="false" flipV="false">
            <a:off x="6070608" y="3473450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781800" y="37211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高风险操作缺乏管控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81800" y="41656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退款、账户权限修改等高敏感操作缺乏人工审批与智能拦截，极易造成资金损失与合规风险，且应对经验难以沉淀复用。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6292" flipH="false" flipV="false">
            <a:off x="6070600" y="4927600"/>
            <a:ext cx="53594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781800" y="51689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 Bot 架构的能力天花板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81800" y="56261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单个大模型或脚本化 Bot 无法独立完成复杂任务的“拆解-协同-验证-审计”全流程，难以应对多步骤、跨系统的复杂服务需求。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15000" y="51689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7F3BF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5000" y="36957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54A4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15000" y="22606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3370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715000" y="8001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场景价值与可复制性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3048000" cy="304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254000" tIns="254000" bIns="2540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私域运营团队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多渠道会话统一处置，减少人工切换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72000" y="2540000"/>
            <a:ext cx="3048000" cy="304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254000" tIns="254000" bIns="2540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客服团队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发送可核验、高风险可审批、过程可审计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0" y="2540000"/>
            <a:ext cx="3048000" cy="304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0" rIns="254000" tIns="254000" bIns="2540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中小企业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Skill/渠道适配器可复用，降低扩展成本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96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主场景抖音私信深做，企微浅扩展，可迁移电商/教育/本地生活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AgentTeams 分层协同架构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0" y="2794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 Manager→TL→Worker 分层编排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0" y="4318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Skill 抽象能力，渠道可替换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874000" y="5842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 核验通过才算闭环成功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240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任务输入: 抖音私信、企业微信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784600" y="2159000"/>
            <a:ext cx="304800" cy="203200"/>
          </a:xfrm>
          <a:prstGeom prst="downArrow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130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Manager: DutyManager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784600" y="3048000"/>
            <a:ext cx="304800" cy="203200"/>
          </a:xfrm>
          <a:prstGeom prst="downArrow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Team Leader: SessionTL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84600" y="3937000"/>
            <a:ext cx="304800" cy="203200"/>
          </a:xfrm>
          <a:prstGeom prst="downArrow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Workers: ChannelIngress, TriageGuard, ActVerify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784600" y="4826000"/>
            <a:ext cx="304800" cy="203200"/>
          </a:xfrm>
          <a:prstGeom prst="downArrow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800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Skill 层: SessionNormalize, IntentTriage, ReplyPlan, ChannelSend, OutcomeVerify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784600" y="5715000"/>
            <a:ext cx="304800" cy="203200"/>
          </a:xfrm>
          <a:prstGeom prst="downArrow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969000"/>
            <a:ext cx="6350000" cy="584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工具层/MCP: 抖音 Runtime, 企微 Hook API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784600" y="6604000"/>
            <a:ext cx="304800" cy="203200"/>
          </a:xfrm>
          <a:prstGeom prst="downArrow">
            <a:avLst/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6858000"/>
            <a:ext cx="6350000" cy="50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证据与审计: Trace/Log, 审批闸门, 案例沉淀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7874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Runtime Agent 是 Windows 本地执行节点，负责浏览器/发送执行，不属于 AI 推理 Agent。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762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Agent Identity 一览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2032000"/>
          <a:ext cx="10668000" cy="4254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2032000"/>
                <a:gridCol w="3302000"/>
                <a:gridCol w="2794000"/>
              </a:tblGrid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一句话职责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禁止事项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DutyManager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Manager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拆解、审批、升级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不直接发消息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SessionTL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Team Leader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调度、上下文、状态机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不调渠道 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ChannelIngress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入站归一、去重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不做意图判断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TriageGuard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意图分级、风险判定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不执行发送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ActVerify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发送、核验、留证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未审批不执行高风险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635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Runtime Agent = 本地执行节点（浏览器/发送），不是上表中的 AI Agent。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1016000"/>
            <a:ext cx="4572000" cy="558800"/>
          </a:xfrm>
          <a:prstGeom prst="roundRect">
            <a:avLst>
              <a:gd name="adj" fmla="val 18181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miter lim="10000000"/>
          </a:ln>
          <a:effectLst>
            <a:outerShdw dir="5400000" dist="63500" blurRad="444500" algn="tl" rotWithShape="false">
              <a:srgbClr val="000000">
                <a:alpha val="8000"/>
              </a:srgbClr>
            </a:outerShdw>
          </a:effectLst>
        </p:spPr>
        <p:txBody>
          <a:bodyPr anchor="ctr" rtlCol="false" anchorCtr="false" vert="horz" wrap="square" lIns="127000" rIns="1270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01. Ingress (消息入站)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651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通过ChannelIngress组件统一接收多渠道用户消息，进行格式清洗与归一化处理，消除异构输入差异。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2413000"/>
            <a:ext cx="4572000" cy="558800"/>
          </a:xfrm>
          <a:prstGeom prst="roundRect">
            <a:avLst>
              <a:gd name="adj" fmla="val 18181"/>
            </a:avLst>
          </a:prstGeom>
          <a:solidFill>
            <a:srgbClr val="7F3BF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444500" algn="tl" rotWithShape="false">
              <a:srgbClr val="7F3BF5">
                <a:alpha val="25000"/>
              </a:srgbClr>
            </a:outerShdw>
          </a:effectLst>
        </p:spPr>
        <p:txBody>
          <a:bodyPr anchor="ctr" rtlCol="false" anchorCtr="false" vert="horz" wrap="square" lIns="127000" rIns="1270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Triage (智能分诊)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3048000"/>
            <a:ext cx="457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TriageGuard实时进行意图精准识别与风险智能评估，快速分流任务至对应处理通道。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3759200"/>
            <a:ext cx="4572000" cy="558800"/>
          </a:xfrm>
          <a:prstGeom prst="roundRect">
            <a:avLst>
              <a:gd name="adj" fmla="val 18181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444500" algn="tl" rotWithShape="false">
              <a:srgbClr val="3B82F6">
                <a:alpha val="25000"/>
              </a:srgbClr>
            </a:outerShdw>
          </a:effectLst>
        </p:spPr>
        <p:txBody>
          <a:bodyPr anchor="ctr" rtlCol="false" anchorCtr="false" vert="horz" wrap="square" lIns="127000" rIns="1270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Plan / Act (规划与执行)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4394200"/>
            <a:ext cx="457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TriageGuard 生成 ReplyPlan 草案；ActVerify 在审批通过后调用 ChannelSend 执行。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5105400"/>
            <a:ext cx="4572000" cy="558800"/>
          </a:xfrm>
          <a:prstGeom prst="roundRect">
            <a:avLst>
              <a:gd name="adj" fmla="val 18181"/>
            </a:avLst>
          </a:prstGeom>
          <a:solidFill>
            <a:srgbClr val="F54A4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444500" algn="tl" rotWithShape="false">
              <a:srgbClr val="F54A45">
                <a:alpha val="20000"/>
              </a:srgbClr>
            </a:outerShdw>
          </a:effectLst>
        </p:spPr>
        <p:txBody>
          <a:bodyPr anchor="ctr" rtlCol="false" anchorCtr="false" vert="horz" wrap="square" lIns="127000" rIns="1270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Verify (结果核验)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5740400"/>
            <a:ext cx="457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76200" rIns="762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ActVerify 调用 OutcomeVerify，expected/actual 一致才记成功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101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状态机流转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2032000"/>
            <a:ext cx="1270000" cy="635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pending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14549" flipH="false" flipV="false">
            <a:off x="7493106" y="2343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001000" y="2032000"/>
            <a:ext cx="1270000" cy="635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triaging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14549" flipH="false" flipV="false">
            <a:off x="9398106" y="2343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9906000" y="2032000"/>
            <a:ext cx="1270000" cy="635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planning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14074" flipH="false" flipV="false">
            <a:off x="10287000" y="3041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9906000" y="3429000"/>
            <a:ext cx="1270000" cy="635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acting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10685450" flipH="false" flipV="false">
            <a:off x="9397894" y="3740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001000" y="3429000"/>
            <a:ext cx="1270000" cy="635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verifying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10685450" flipH="false" flipV="false">
            <a:off x="7492894" y="3740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096000" y="3238500"/>
            <a:ext cx="1270000" cy="1016000"/>
          </a:xfrm>
          <a:prstGeom prst="roundRect">
            <a:avLst>
              <a:gd name="adj" fmla="val 1250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done / failed</a:t>
            </a:r>
            <a:b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escalated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" y="6286500"/>
            <a:ext cx="1117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TaskContext 传递 task_id、profile_id、中间结论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524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5 个核心 Skill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048000"/>
            <a:ext cx="1778000" cy="27940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254000" bIns="25400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SessionNormalize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多渠道会话归一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175000" y="3048000"/>
            <a:ext cx="1778000" cy="27940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254000" bIns="25400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IntentTriage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意图识别与分级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4000" y="3048000"/>
            <a:ext cx="1778000" cy="27940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254000" bIns="25400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ReplyPlan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回复/处置方案生成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93000" y="3048000"/>
            <a:ext cx="1778000" cy="27940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254000" bIns="25400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ChannelSend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渠道发送（幂等、防串号）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0" y="3048000"/>
            <a:ext cx="1778000" cy="27940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254000" bIns="25400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OutcomeVerify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结果核验与证据沉淀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6096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发送成功 ≠ 闭环成功；OutcomeVerify 通过才算成功。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1500" y="1854200"/>
            <a:ext cx="25019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定义标准化接口，实现与外部系统的解耦，确保上层 Agent 编排逻辑与底层渠道无关，为系统的灵活扩展与跨平台迁移奠定基础。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" y="1193800"/>
            <a:ext cx="29083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MCP 等价工具契约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276600" y="1003300"/>
            <a:ext cx="2717800" cy="4851400"/>
          </a:xfrm>
          <a:prstGeom prst="roundRect">
            <a:avLst>
              <a:gd name="adj" fmla="val 6542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52800" y="4749800"/>
            <a:ext cx="25654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向指定用户发送消息，接口必须返回明确的发送状态码与唯一消息ID，确保消息投递的可追溯性与结果确认，支持各类消息格式的透传。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52800" y="4343400"/>
            <a:ext cx="256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01. channel.send_message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10300" y="1003300"/>
            <a:ext cx="2717800" cy="4851400"/>
          </a:xfrm>
          <a:prstGeom prst="roundRect">
            <a:avLst>
              <a:gd name="adj" fmla="val 6542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4749800"/>
            <a:ext cx="25654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查询指定会话的上下文信息，返回标准化的会话数据结构，包含用户身份、对话状态、场景参数及关键上下文变量，支撑 Agent 的上下文感知能力。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86500" y="4343400"/>
            <a:ext cx="256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02. channel.query_session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31300" y="1003300"/>
            <a:ext cx="2717800" cy="4851400"/>
          </a:xfrm>
          <a:prstGeom prst="roundRect">
            <a:avLst>
              <a:gd name="adj" fmla="val 6542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207500" y="4749800"/>
            <a:ext cx="25654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获取指定用户的历史会话记录，支持按时间范围与数量筛选，为 Agent 提供完整的对话记忆，助力意图理解、多轮对话分析与场景延续性交互。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207500" y="4343400"/>
            <a:ext cx="256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03. channel.fetch_history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71" b="71"/>
          <a:stretch>
            <a:fillRect/>
          </a:stretch>
        </p:blipFill>
        <p:spPr>
          <a:xfrm rot="0" flipH="false" flipV="false">
            <a:off x="3365500" y="1092200"/>
            <a:ext cx="2540000" cy="3200400"/>
          </a:xfrm>
          <a:prstGeom prst="roundRect">
            <a:avLst>
              <a:gd name="adj" fmla="val 6000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14" r="14" t="0" b="0"/>
          <a:stretch>
            <a:fillRect/>
          </a:stretch>
        </p:blipFill>
        <p:spPr>
          <a:xfrm rot="0" flipH="false" flipV="false">
            <a:off x="6286500" y="1092200"/>
            <a:ext cx="2540000" cy="3200400"/>
          </a:xfrm>
          <a:prstGeom prst="roundRect">
            <a:avLst>
              <a:gd name="adj" fmla="val 6000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71" b="71"/>
          <a:stretch>
            <a:fillRect/>
          </a:stretch>
        </p:blipFill>
        <p:spPr>
          <a:xfrm rot="0" flipH="false" flipV="false">
            <a:off x="9232900" y="1092200"/>
            <a:ext cx="2540000" cy="3200400"/>
          </a:xfrm>
          <a:prstGeom prst="roundRect">
            <a:avLst>
              <a:gd name="adj" fmla="val 600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1500" y="1346200"/>
            <a:ext cx="41529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在真实业务场景中验证闭环能力，覆盖从常规咨询到异常容错的全链路场景。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" y="685800"/>
            <a:ext cx="6197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闭环演示剧本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8001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781800" y="1016000"/>
            <a:ext cx="4648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剧本A (主路径·抖音)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781800" y="1587500"/>
            <a:ext cx="4648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用户：「想了解价格」 → 低风险 → 自动回复 → OutcomeVerify 通过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146" flipH="false" flipV="false">
            <a:off x="6070608" y="2660650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715000" y="28575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70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781800" y="2857500"/>
            <a:ext cx="4648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剧本B (高风险·审批)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81800" y="3429000"/>
            <a:ext cx="4648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用户：「我要退款/改账户」→ TriageGuard 标记 need_approval → DutyManager 挂起 → 人工审批 → 通过：发送+核验 / 拒绝：审计结束不发送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146" flipH="false" flipV="false">
            <a:off x="6070608" y="4629150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715000" y="4826000"/>
            <a:ext cx="114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54A4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81800" y="4826000"/>
            <a:ext cx="4648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剧本C (核验失败·升级)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81800" y="5397500"/>
            <a:ext cx="4648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用户发短文本「1」「在」→ ChannelSend 后 OutcomeVerify 校验失败 → 不入库为成功，升级人工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81800" y="6159500"/>
            <a:ext cx="4648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初赛：方案设计 + 抖音真实能力证明；复赛：AgentTeams 可运行 Demo 联调。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1500" y="1346200"/>
            <a:ext cx="41529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不止于功能，更在于安全与可信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" y="685800"/>
            <a:ext cx="6197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生产级保障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2710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记录完整的执行日志、审批记录和核验证据，所有操作均可审计和回滚，实现可追溯的安全闭环。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2710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全链路执行证据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881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针对高危操作设置审批闸门，必须获取人工审批通过的Token才能执行，从源头防止误操作与资损。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881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ApprovalToken 审批闸门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052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 OutcomeVerify 机制，所有关键操作结果强制二次校验，确保服务调用、数据变更真正闭环成功。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052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OutcomeVerify 二次校验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Profile 实现严格的账号级环境隔离，为每个用户会话分配独立执行空间，彻底杜绝跨用户“串号”与数据混淆问题。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Profile 级账号隔离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151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322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3980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3980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112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36322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5151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524000"/>
            <a:ext cx="3302000" cy="508000"/>
          </a:xfrm>
          <a:prstGeom prst="roundRect">
            <a:avLst>
              <a:gd name="adj" fmla="val 2000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444500" algn="tl" rotWithShape="false">
              <a:srgbClr val="000000">
                <a:alpha val="15000"/>
              </a:srgbClr>
            </a:outerShdw>
          </a:effectLst>
        </p:spPr>
        <p:txBody>
          <a:bodyPr anchor="ctr" rtlCol="false" anchorCtr="false" vert="horz" wrap="square" lIns="190500" rIns="1905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286000"/>
            <a:ext cx="330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初赛方案：5 Agent + 5 Skill + 8 步闭环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AgentTeams 分层架构与 MCP 契约设计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抖音私信：入站、发送、profile 隔离（业务系统已落地）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GitHub 材料仓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445000" y="1524000"/>
            <a:ext cx="3302000" cy="508000"/>
          </a:xfrm>
          <a:prstGeom prst="roundRect">
            <a:avLst>
              <a:gd name="adj" fmla="val 20000"/>
            </a:avLst>
          </a:prstGeom>
          <a:solidFill>
            <a:srgbClr val="7F3BF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444500" algn="tl" rotWithShape="false">
              <a:srgbClr val="7F3BF5">
                <a:alpha val="25000"/>
              </a:srgbClr>
            </a:outerShdw>
          </a:effectLst>
        </p:spPr>
        <p:txBody>
          <a:bodyPr anchor="ctr" rtlCol="false" anchorCtr="false" vert="horz" wrap="square" lIns="190500" rIns="1905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进行中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2286000"/>
            <a:ext cx="330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企微统一适配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审批流产品化（ApprovalToken）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知识库 RAG 轻量接入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0" y="1524000"/>
            <a:ext cx="3302000" cy="508000"/>
          </a:xfrm>
          <a:prstGeom prst="roundRect">
            <a:avLst>
              <a:gd name="adj" fmla="val 20000"/>
            </a:avLst>
          </a:prstGeom>
          <a:solidFill>
            <a:srgbClr val="F54A4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444500" algn="tl" rotWithShape="false">
              <a:srgbClr val="F54A45">
                <a:alpha val="25000"/>
              </a:srgbClr>
            </a:outerShdw>
          </a:effectLst>
        </p:spPr>
        <p:txBody>
          <a:bodyPr anchor="ctr" rtlCol="false" anchorCtr="false" vert="horz" wrap="square" lIns="190500" rIns="190500" tIns="101600" bIns="1016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复赛计划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2286000"/>
            <a:ext cx="330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可执行 AgentTeams 代码包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Task Runtime 后端 /tasks API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Trace 工作台联调（当前为设计目标，非已上线全功能）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端到端 Demo 视频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715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63500" bIns="6350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初赛提交以方案设计与真实渠道能力证明为主，不声称 Trace/审批后端已全部打通。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73500" y="2616200"/>
            <a:ext cx="4445000" cy="1104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800">
                <a:solidFill>
                  <a:srgbClr val="3A2A4E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4191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2200">
                <a:solidFill>
                  <a:srgbClr val="553C73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让每个企业都能拥有自己的智能客服团队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{"Label":"1","ContentProducer":"001191110102MACQD9K64010000","ProduceID":"7667883186722393377","ReservedCode1":"","ContentPropagator":"","PropagateID":"","ReservedCode2":""}</vt:lpwstr>
  </property>
</Properties>
</file>